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77" r:id="rId2"/>
    <p:sldId id="333" r:id="rId3"/>
    <p:sldId id="413" r:id="rId4"/>
    <p:sldId id="491" r:id="rId5"/>
    <p:sldId id="374" r:id="rId6"/>
    <p:sldId id="490" r:id="rId7"/>
    <p:sldId id="418" r:id="rId8"/>
    <p:sldId id="492" r:id="rId9"/>
    <p:sldId id="493" r:id="rId10"/>
    <p:sldId id="496" r:id="rId11"/>
    <p:sldId id="494" r:id="rId12"/>
    <p:sldId id="495" r:id="rId13"/>
    <p:sldId id="497" r:id="rId14"/>
    <p:sldId id="498" r:id="rId15"/>
    <p:sldId id="499" r:id="rId16"/>
    <p:sldId id="500" r:id="rId17"/>
    <p:sldId id="502" r:id="rId18"/>
    <p:sldId id="501" r:id="rId19"/>
    <p:sldId id="293" r:id="rId20"/>
  </p:sldIdLst>
  <p:sldSz cx="12192000" cy="6858000"/>
  <p:notesSz cx="6858000" cy="9144000"/>
  <p:embeddedFontLst>
    <p:embeddedFont>
      <p:font typeface="Courgette" panose="020B0604020202020204" charset="0"/>
      <p:regular r:id="rId23"/>
    </p:embeddedFont>
    <p:embeddedFont>
      <p:font typeface="DM Serif Display" panose="020B0604020202020204" charset="0"/>
      <p:regular r:id="rId24"/>
      <p:italic r:id="rId25"/>
    </p:embeddedFont>
    <p:embeddedFont>
      <p:font typeface="Malgun Gothic" panose="020B0503020000020004" pitchFamily="34" charset="-127"/>
      <p:regular r:id="rId26"/>
      <p:bold r:id="rId27"/>
    </p:embeddedFont>
    <p:embeddedFont>
      <p:font typeface="Montserrat Light" panose="020B0604020202020204" charset="-52"/>
      <p:regular r:id="rId28"/>
      <p:italic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7D5"/>
    <a:srgbClr val="FFFFFF"/>
    <a:srgbClr val="9CC84F"/>
    <a:srgbClr val="E03142"/>
    <a:srgbClr val="8E80FF"/>
    <a:srgbClr val="558AFC"/>
    <a:srgbClr val="F3BCB2"/>
    <a:srgbClr val="52BABE"/>
    <a:srgbClr val="FAF8EA"/>
    <a:srgbClr val="A0D2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81" autoAdjust="0"/>
    <p:restoredTop sz="94660"/>
  </p:normalViewPr>
  <p:slideViewPr>
    <p:cSldViewPr snapToGrid="0">
      <p:cViewPr>
        <p:scale>
          <a:sx n="75" d="100"/>
          <a:sy n="75" d="100"/>
        </p:scale>
        <p:origin x="994" y="31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2988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247FDBB1-5EC9-40FD-9A36-D4E35C581F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F663819-6E29-4FB7-BF1C-93C4B4D769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45FC5A-1932-4642-9CF8-618CD292DDF6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AF1716-40E8-4512-B252-D7362A0E949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E3C99E-C3C0-40AD-AD91-8E96E8F586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86696-F86F-4066-9FDD-77F2B013FA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5924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9F08-9100-4AF5-BC0A-FC6A093BE3CC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8FC7D2-309F-4B1D-AF63-DB3D4B54485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93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3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65EA0A72-A63C-4770-B3A5-757EABE2E0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hlinkClick r:id="rId3"/>
            <a:extLst>
              <a:ext uri="{FF2B5EF4-FFF2-40B4-BE49-F238E27FC236}">
                <a16:creationId xmlns:a16="http://schemas.microsoft.com/office/drawing/2014/main" id="{6067111E-827B-4D4A-9DFF-1B9DA813C5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5" name="TextBox 4">
            <a:hlinkClick r:id="rId6"/>
            <a:extLst>
              <a:ext uri="{FF2B5EF4-FFF2-40B4-BE49-F238E27FC236}">
                <a16:creationId xmlns:a16="http://schemas.microsoft.com/office/drawing/2014/main" id="{0755FDFD-1795-4EA0-B3E0-B3BB9B9452AE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119400B-B160-42A6-85CD-09684CEB74C2}"/>
              </a:ext>
            </a:extLst>
          </p:cNvPr>
          <p:cNvSpPr/>
          <p:nvPr userDrawn="1"/>
        </p:nvSpPr>
        <p:spPr>
          <a:xfrm>
            <a:off x="1193800" y="750771"/>
            <a:ext cx="9804400" cy="2678229"/>
          </a:xfrm>
          <a:prstGeom prst="roundRect">
            <a:avLst>
              <a:gd name="adj" fmla="val 8903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endParaRPr lang="ko-KR" altLang="en-US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4948787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81A58CD-AC2A-4B21-BF2B-5B6CDAAAF1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43F64E5-8307-4778-A8CD-AF96927E55EA}"/>
              </a:ext>
            </a:extLst>
          </p:cNvPr>
          <p:cNvSpPr/>
          <p:nvPr userDrawn="1"/>
        </p:nvSpPr>
        <p:spPr>
          <a:xfrm>
            <a:off x="6096000" y="1674124"/>
            <a:ext cx="5705796" cy="3509752"/>
          </a:xfrm>
          <a:prstGeom prst="roundRect">
            <a:avLst>
              <a:gd name="adj" fmla="val 11239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2" name="Graphic 3">
            <a:hlinkClick r:id="rId3"/>
            <a:extLst>
              <a:ext uri="{FF2B5EF4-FFF2-40B4-BE49-F238E27FC236}">
                <a16:creationId xmlns:a16="http://schemas.microsoft.com/office/drawing/2014/main" id="{C48D7333-5F32-4640-8B8C-D58C4E255E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5" name="TextBox 14">
            <a:hlinkClick r:id="rId6"/>
            <a:extLst>
              <a:ext uri="{FF2B5EF4-FFF2-40B4-BE49-F238E27FC236}">
                <a16:creationId xmlns:a16="http://schemas.microsoft.com/office/drawing/2014/main" id="{8EC40698-0B85-4544-83BC-37A1B0A3ECC2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4516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8C66D671-3691-476E-823D-0C7BB56312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3">
            <a:hlinkClick r:id="rId3"/>
            <a:extLst>
              <a:ext uri="{FF2B5EF4-FFF2-40B4-BE49-F238E27FC236}">
                <a16:creationId xmlns:a16="http://schemas.microsoft.com/office/drawing/2014/main" id="{05665CEA-66A9-401E-A2F7-1D6F1D07FAD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9BD044C8-D8A1-40E3-94B0-63E6BDBBF008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66434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13312640-07C9-45D3-9B31-7992E7D884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3">
            <a:hlinkClick r:id="rId3"/>
            <a:extLst>
              <a:ext uri="{FF2B5EF4-FFF2-40B4-BE49-F238E27FC236}">
                <a16:creationId xmlns:a16="http://schemas.microsoft.com/office/drawing/2014/main" id="{A77EA216-5A63-4060-B428-778304101A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9F761986-1CE8-4117-AA98-804BAF727738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97544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AF8BE264-929F-4591-8481-0E3AEDB9A3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3">
            <a:hlinkClick r:id="rId3"/>
            <a:extLst>
              <a:ext uri="{FF2B5EF4-FFF2-40B4-BE49-F238E27FC236}">
                <a16:creationId xmlns:a16="http://schemas.microsoft.com/office/drawing/2014/main" id="{6E9ABC77-14F3-4760-9F6B-B05EFE149CA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7D777358-0E0E-4960-A9C8-7B4021ACFD7C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18971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068A661-7274-4558-AA35-A75EAFD71A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3">
            <a:hlinkClick r:id="rId3"/>
            <a:extLst>
              <a:ext uri="{FF2B5EF4-FFF2-40B4-BE49-F238E27FC236}">
                <a16:creationId xmlns:a16="http://schemas.microsoft.com/office/drawing/2014/main" id="{B76C901F-3DE4-488E-ADDD-B791926710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F31EA0C4-827B-45DF-8F2F-7CCAB60A9D3C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122646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3D395443-45ED-4B6B-8285-8EB132A9D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DF871CE-5901-47EE-AFC1-9486C5408F25}"/>
              </a:ext>
            </a:extLst>
          </p:cNvPr>
          <p:cNvSpPr/>
          <p:nvPr userDrawn="1"/>
        </p:nvSpPr>
        <p:spPr>
          <a:xfrm>
            <a:off x="719400" y="720000"/>
            <a:ext cx="5721313" cy="5418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05A0270-D672-41EB-8D06-16FF0480C517}"/>
              </a:ext>
            </a:extLst>
          </p:cNvPr>
          <p:cNvSpPr/>
          <p:nvPr userDrawn="1"/>
        </p:nvSpPr>
        <p:spPr>
          <a:xfrm>
            <a:off x="7010400" y="720000"/>
            <a:ext cx="4462200" cy="5418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13" name="그림 개체 틀 4">
            <a:extLst>
              <a:ext uri="{FF2B5EF4-FFF2-40B4-BE49-F238E27FC236}">
                <a16:creationId xmlns:a16="http://schemas.microsoft.com/office/drawing/2014/main" id="{30544917-5635-40CD-BEAD-751FA919E8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49500" y="1260000"/>
            <a:ext cx="3384000" cy="4338000"/>
          </a:xfrm>
          <a:prstGeom prst="roundRect">
            <a:avLst>
              <a:gd name="adj" fmla="val 3858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7" name="Graphic 3">
            <a:hlinkClick r:id="rId3"/>
            <a:extLst>
              <a:ext uri="{FF2B5EF4-FFF2-40B4-BE49-F238E27FC236}">
                <a16:creationId xmlns:a16="http://schemas.microsoft.com/office/drawing/2014/main" id="{144FABE4-11B2-4666-9C48-EF41234EBA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8" name="TextBox 17">
            <a:hlinkClick r:id="rId6"/>
            <a:extLst>
              <a:ext uri="{FF2B5EF4-FFF2-40B4-BE49-F238E27FC236}">
                <a16:creationId xmlns:a16="http://schemas.microsoft.com/office/drawing/2014/main" id="{BF0F2C25-6040-4310-8F28-ADBE25EFC341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5951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D9DFC13E-CA36-4F55-B9B9-291008E0B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8A1593A9-C870-4F1D-9E03-1DAA28BD515A}"/>
              </a:ext>
            </a:extLst>
          </p:cNvPr>
          <p:cNvSpPr/>
          <p:nvPr userDrawn="1"/>
        </p:nvSpPr>
        <p:spPr>
          <a:xfrm>
            <a:off x="719400" y="1260000"/>
            <a:ext cx="5721313" cy="4338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D2D5A89-724B-41EC-8F11-2B0AF5C9879A}"/>
              </a:ext>
            </a:extLst>
          </p:cNvPr>
          <p:cNvSpPr/>
          <p:nvPr userDrawn="1"/>
        </p:nvSpPr>
        <p:spPr>
          <a:xfrm>
            <a:off x="7010400" y="1260000"/>
            <a:ext cx="4462200" cy="4338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10" name="그림 개체 틀 4">
            <a:extLst>
              <a:ext uri="{FF2B5EF4-FFF2-40B4-BE49-F238E27FC236}">
                <a16:creationId xmlns:a16="http://schemas.microsoft.com/office/drawing/2014/main" id="{A65BF8B3-F991-4990-B1F2-3247B5F0A58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294300" y="1562100"/>
            <a:ext cx="3894400" cy="1866900"/>
          </a:xfrm>
          <a:prstGeom prst="roundRect">
            <a:avLst>
              <a:gd name="adj" fmla="val 3858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4" name="Graphic 3">
            <a:hlinkClick r:id="rId3"/>
            <a:extLst>
              <a:ext uri="{FF2B5EF4-FFF2-40B4-BE49-F238E27FC236}">
                <a16:creationId xmlns:a16="http://schemas.microsoft.com/office/drawing/2014/main" id="{3BE9C6CF-8ED6-43AC-98A2-C07CF1868C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5" name="TextBox 14">
            <a:hlinkClick r:id="rId6"/>
            <a:extLst>
              <a:ext uri="{FF2B5EF4-FFF2-40B4-BE49-F238E27FC236}">
                <a16:creationId xmlns:a16="http://schemas.microsoft.com/office/drawing/2014/main" id="{65E0C9BF-AD47-474D-A9F2-438A13C3CBF1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78727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3E55C6C0-7037-4560-AB69-E4198DE539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8C2AFBE-A5F7-4D94-A200-CDCE1AD16EE8}"/>
              </a:ext>
            </a:extLst>
          </p:cNvPr>
          <p:cNvSpPr/>
          <p:nvPr userDrawn="1"/>
        </p:nvSpPr>
        <p:spPr>
          <a:xfrm>
            <a:off x="719400" y="1591519"/>
            <a:ext cx="4003071" cy="3674962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387E068-16EC-4E57-BDC8-34C8084768E2}"/>
              </a:ext>
            </a:extLst>
          </p:cNvPr>
          <p:cNvSpPr/>
          <p:nvPr userDrawn="1"/>
        </p:nvSpPr>
        <p:spPr>
          <a:xfrm>
            <a:off x="5441871" y="1591519"/>
            <a:ext cx="2880000" cy="2880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10" name="그림 개체 틀 4">
            <a:extLst>
              <a:ext uri="{FF2B5EF4-FFF2-40B4-BE49-F238E27FC236}">
                <a16:creationId xmlns:a16="http://schemas.microsoft.com/office/drawing/2014/main" id="{CE116BBA-A09D-467E-A4A3-8BDADE41E9A4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621871" y="1771519"/>
            <a:ext cx="2520000" cy="2520000"/>
          </a:xfrm>
          <a:prstGeom prst="roundRect">
            <a:avLst>
              <a:gd name="adj" fmla="val 3858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BC94F59-54F6-46AF-A25A-48B381E81275}"/>
              </a:ext>
            </a:extLst>
          </p:cNvPr>
          <p:cNvSpPr/>
          <p:nvPr userDrawn="1"/>
        </p:nvSpPr>
        <p:spPr>
          <a:xfrm>
            <a:off x="8592600" y="1591519"/>
            <a:ext cx="2880000" cy="2880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12" name="그림 개체 틀 4">
            <a:extLst>
              <a:ext uri="{FF2B5EF4-FFF2-40B4-BE49-F238E27FC236}">
                <a16:creationId xmlns:a16="http://schemas.microsoft.com/office/drawing/2014/main" id="{3B1F0557-8B82-45B1-9E98-2F66A78F57C5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8772600" y="1771519"/>
            <a:ext cx="2520000" cy="2520000"/>
          </a:xfrm>
          <a:prstGeom prst="roundRect">
            <a:avLst>
              <a:gd name="adj" fmla="val 3858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5" name="Graphic 3">
            <a:hlinkClick r:id="rId3"/>
            <a:extLst>
              <a:ext uri="{FF2B5EF4-FFF2-40B4-BE49-F238E27FC236}">
                <a16:creationId xmlns:a16="http://schemas.microsoft.com/office/drawing/2014/main" id="{1EEA8B34-8618-4699-B610-C27194526C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6" name="TextBox 15">
            <a:hlinkClick r:id="rId6"/>
            <a:extLst>
              <a:ext uri="{FF2B5EF4-FFF2-40B4-BE49-F238E27FC236}">
                <a16:creationId xmlns:a16="http://schemas.microsoft.com/office/drawing/2014/main" id="{9BC47EA2-B620-4F33-8A8E-0780D8224FDD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735599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CD65FD0A-8A1E-4EA0-A75E-CFF2EDDA06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그림 개체 틀 4">
            <a:extLst>
              <a:ext uri="{FF2B5EF4-FFF2-40B4-BE49-F238E27FC236}">
                <a16:creationId xmlns:a16="http://schemas.microsoft.com/office/drawing/2014/main" id="{5779175A-EA35-4135-AEB3-4D40941B3BA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722607" y="2104573"/>
            <a:ext cx="2075044" cy="207504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6" name="그림 개체 틀 4">
            <a:extLst>
              <a:ext uri="{FF2B5EF4-FFF2-40B4-BE49-F238E27FC236}">
                <a16:creationId xmlns:a16="http://schemas.microsoft.com/office/drawing/2014/main" id="{5045CE6B-25B3-4D56-92F0-08AFA7C51DFB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5058478" y="2104573"/>
            <a:ext cx="2075044" cy="207504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0" name="그림 개체 틀 4">
            <a:extLst>
              <a:ext uri="{FF2B5EF4-FFF2-40B4-BE49-F238E27FC236}">
                <a16:creationId xmlns:a16="http://schemas.microsoft.com/office/drawing/2014/main" id="{12C5B00E-9987-411A-83C8-A15A50E1BAD8}"/>
              </a:ext>
            </a:extLst>
          </p:cNvPr>
          <p:cNvSpPr>
            <a:spLocks noGrp="1"/>
          </p:cNvSpPr>
          <p:nvPr userDrawn="1">
            <p:ph type="pic" sz="quarter" idx="14" hasCustomPrompt="1"/>
          </p:nvPr>
        </p:nvSpPr>
        <p:spPr>
          <a:xfrm>
            <a:off x="8394349" y="2104573"/>
            <a:ext cx="2075044" cy="207504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4" name="Graphic 3">
            <a:hlinkClick r:id="rId3"/>
            <a:extLst>
              <a:ext uri="{FF2B5EF4-FFF2-40B4-BE49-F238E27FC236}">
                <a16:creationId xmlns:a16="http://schemas.microsoft.com/office/drawing/2014/main" id="{EF441C07-8459-45B7-95C5-451B3E648B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5" name="TextBox 14">
            <a:hlinkClick r:id="rId6"/>
            <a:extLst>
              <a:ext uri="{FF2B5EF4-FFF2-40B4-BE49-F238E27FC236}">
                <a16:creationId xmlns:a16="http://schemas.microsoft.com/office/drawing/2014/main" id="{1E526256-24B1-4E9D-B593-B665FE4DD00A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91429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7F2633E-1978-4536-8698-96E5A4F91B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74517DB-FFAD-48AC-8ECB-78E098313850}"/>
              </a:ext>
            </a:extLst>
          </p:cNvPr>
          <p:cNvSpPr/>
          <p:nvPr userDrawn="1"/>
        </p:nvSpPr>
        <p:spPr>
          <a:xfrm>
            <a:off x="639422" y="720000"/>
            <a:ext cx="10913157" cy="5418000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5" name="그림 개체 틀 17">
            <a:extLst>
              <a:ext uri="{FF2B5EF4-FFF2-40B4-BE49-F238E27FC236}">
                <a16:creationId xmlns:a16="http://schemas.microsoft.com/office/drawing/2014/main" id="{851CAB64-1F3E-4E7F-A770-7EF6BC28CEAB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8010150" y="1792543"/>
            <a:ext cx="3272917" cy="3272913"/>
          </a:xfrm>
          <a:prstGeom prst="roundRect">
            <a:avLst>
              <a:gd name="adj" fmla="val 393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1" name="그림 개체 틀 17">
            <a:extLst>
              <a:ext uri="{FF2B5EF4-FFF2-40B4-BE49-F238E27FC236}">
                <a16:creationId xmlns:a16="http://schemas.microsoft.com/office/drawing/2014/main" id="{600D9640-2959-42A4-9FDE-C73021E38AC9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4487675" y="1792543"/>
            <a:ext cx="3272917" cy="3272913"/>
          </a:xfrm>
          <a:prstGeom prst="roundRect">
            <a:avLst>
              <a:gd name="adj" fmla="val 393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5" name="Graphic 3">
            <a:hlinkClick r:id="rId3"/>
            <a:extLst>
              <a:ext uri="{FF2B5EF4-FFF2-40B4-BE49-F238E27FC236}">
                <a16:creationId xmlns:a16="http://schemas.microsoft.com/office/drawing/2014/main" id="{5AEF6D43-8BA6-4AB0-8E28-7AE43299F6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6" name="TextBox 15">
            <a:hlinkClick r:id="rId6"/>
            <a:extLst>
              <a:ext uri="{FF2B5EF4-FFF2-40B4-BE49-F238E27FC236}">
                <a16:creationId xmlns:a16="http://schemas.microsoft.com/office/drawing/2014/main" id="{09B64267-87D3-4D57-8100-0F92CE742F12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28998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34A5D538-195D-4DC3-AF8E-EC2594FC31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781D1F2-1318-45BC-9D15-52D8594028CC}"/>
              </a:ext>
            </a:extLst>
          </p:cNvPr>
          <p:cNvSpPr/>
          <p:nvPr userDrawn="1"/>
        </p:nvSpPr>
        <p:spPr>
          <a:xfrm>
            <a:off x="639422" y="1585732"/>
            <a:ext cx="10913157" cy="3686536"/>
          </a:xfrm>
          <a:prstGeom prst="roundRect">
            <a:avLst>
              <a:gd name="adj" fmla="val 6588"/>
            </a:avLst>
          </a:prstGeom>
          <a:solidFill>
            <a:schemeClr val="bg1">
              <a:alpha val="50000"/>
            </a:schemeClr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lvl="0" algn="ctr"/>
            <a:endParaRPr lang="ko-KR" altLang="en-US" sz="2400" dirty="0">
              <a:latin typeface="+mj-lt"/>
            </a:endParaRPr>
          </a:p>
        </p:txBody>
      </p:sp>
      <p:sp>
        <p:nvSpPr>
          <p:cNvPr id="5" name="그림 개체 틀 4">
            <a:extLst>
              <a:ext uri="{FF2B5EF4-FFF2-40B4-BE49-F238E27FC236}">
                <a16:creationId xmlns:a16="http://schemas.microsoft.com/office/drawing/2014/main" id="{0E49C963-E814-4165-8F26-4FD90A7EBB8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563631" y="2007008"/>
            <a:ext cx="4542519" cy="2843984"/>
          </a:xfrm>
          <a:prstGeom prst="roundRect">
            <a:avLst>
              <a:gd name="adj" fmla="val 5678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3" name="Graphic 3">
            <a:hlinkClick r:id="rId3"/>
            <a:extLst>
              <a:ext uri="{FF2B5EF4-FFF2-40B4-BE49-F238E27FC236}">
                <a16:creationId xmlns:a16="http://schemas.microsoft.com/office/drawing/2014/main" id="{6BEAE395-8FE3-442A-B43C-2C812E066D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4" name="TextBox 13">
            <a:hlinkClick r:id="rId6"/>
            <a:extLst>
              <a:ext uri="{FF2B5EF4-FFF2-40B4-BE49-F238E27FC236}">
                <a16:creationId xmlns:a16="http://schemas.microsoft.com/office/drawing/2014/main" id="{E5774220-9680-4E7D-94F4-2E42FA268C55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4171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DA5C7156-6F7A-4196-AF00-D5468AD2B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그림 개체 틀 11">
            <a:extLst>
              <a:ext uri="{FF2B5EF4-FFF2-40B4-BE49-F238E27FC236}">
                <a16:creationId xmlns:a16="http://schemas.microsoft.com/office/drawing/2014/main" id="{D85D2A41-5930-4E05-AEE4-168896F326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791450" y="759883"/>
            <a:ext cx="2540000" cy="5583986"/>
          </a:xfrm>
          <a:prstGeom prst="roundRect">
            <a:avLst>
              <a:gd name="adj" fmla="val 21152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>
              <a:defRPr lang="ko-KR" altLang="en-US" sz="2000" dirty="0"/>
            </a:lvl1pPr>
          </a:lstStyle>
          <a:p>
            <a:pPr marR="0" lvl="0" fontAlgn="auto">
              <a:spcAft>
                <a:spcPts val="0"/>
              </a:spcAft>
              <a:buClrTx/>
              <a:buSzTx/>
              <a:tabLst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1" name="Graphic 3">
            <a:hlinkClick r:id="rId3"/>
            <a:extLst>
              <a:ext uri="{FF2B5EF4-FFF2-40B4-BE49-F238E27FC236}">
                <a16:creationId xmlns:a16="http://schemas.microsoft.com/office/drawing/2014/main" id="{5A4F6B18-908E-4251-A3EC-212ED59D4C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73BE43A2-126B-4AB2-924B-6D84ADFC023C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993446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1F1B3C4-DE2B-43A6-9260-38112EB28A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9402E7A1-1577-4366-A47E-06BD230DD56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74273" y="1109778"/>
            <a:ext cx="6988017" cy="4556788"/>
          </a:xfrm>
          <a:prstGeom prst="roundRect">
            <a:avLst>
              <a:gd name="adj" fmla="val 3110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2" name="Graphic 3">
            <a:hlinkClick r:id="rId3"/>
            <a:extLst>
              <a:ext uri="{FF2B5EF4-FFF2-40B4-BE49-F238E27FC236}">
                <a16:creationId xmlns:a16="http://schemas.microsoft.com/office/drawing/2014/main" id="{2474BDD5-51E3-474A-AE05-CC743CC41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3" name="TextBox 12">
            <a:hlinkClick r:id="rId6"/>
            <a:extLst>
              <a:ext uri="{FF2B5EF4-FFF2-40B4-BE49-F238E27FC236}">
                <a16:creationId xmlns:a16="http://schemas.microsoft.com/office/drawing/2014/main" id="{305F6C9C-A76F-4C44-8A47-1B3AFDA5CBF8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7338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8F546876-5040-4B66-A36C-C5F54FF90C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그림 개체 틀 8">
            <a:extLst>
              <a:ext uri="{FF2B5EF4-FFF2-40B4-BE49-F238E27FC236}">
                <a16:creationId xmlns:a16="http://schemas.microsoft.com/office/drawing/2014/main" id="{0518C972-DD59-4A88-AD95-941B4B684A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839978" y="1856521"/>
            <a:ext cx="6740399" cy="3865781"/>
          </a:xfrm>
          <a:prstGeom prst="roundRect">
            <a:avLst>
              <a:gd name="adj" fmla="val 181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2" name="Graphic 3">
            <a:hlinkClick r:id="rId3"/>
            <a:extLst>
              <a:ext uri="{FF2B5EF4-FFF2-40B4-BE49-F238E27FC236}">
                <a16:creationId xmlns:a16="http://schemas.microsoft.com/office/drawing/2014/main" id="{C7349E9B-DAA8-4FA1-9B15-59737D7B7B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13" name="TextBox 12">
            <a:hlinkClick r:id="rId6"/>
            <a:extLst>
              <a:ext uri="{FF2B5EF4-FFF2-40B4-BE49-F238E27FC236}">
                <a16:creationId xmlns:a16="http://schemas.microsoft.com/office/drawing/2014/main" id="{93F8D11D-C60D-4041-9005-945C718769CA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97361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3">
            <a:hlinkClick r:id="rId2"/>
            <a:extLst>
              <a:ext uri="{FF2B5EF4-FFF2-40B4-BE49-F238E27FC236}">
                <a16:creationId xmlns:a16="http://schemas.microsoft.com/office/drawing/2014/main" id="{77B0EF9B-5A23-49A2-903C-A327962D1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5"/>
            <a:extLst>
              <a:ext uri="{FF2B5EF4-FFF2-40B4-BE49-F238E27FC236}">
                <a16:creationId xmlns:a16="http://schemas.microsoft.com/office/drawing/2014/main" id="{7550D78F-8B03-4E9C-AD80-8ECE47308969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392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PTMON cus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3">
            <a:hlinkClick r:id="rId2"/>
            <a:extLst>
              <a:ext uri="{FF2B5EF4-FFF2-40B4-BE49-F238E27FC236}">
                <a16:creationId xmlns:a16="http://schemas.microsoft.com/office/drawing/2014/main" id="{A50DF144-6513-44D2-BA52-C277F28A87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rcRect l="29909"/>
          <a:stretch/>
        </p:blipFill>
        <p:spPr>
          <a:xfrm>
            <a:off x="5771192" y="689270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5"/>
            <a:extLst>
              <a:ext uri="{FF2B5EF4-FFF2-40B4-BE49-F238E27FC236}">
                <a16:creationId xmlns:a16="http://schemas.microsoft.com/office/drawing/2014/main" id="{B6CDD72D-F79F-4A02-AFDE-1474BAA63F46}"/>
              </a:ext>
            </a:extLst>
          </p:cNvPr>
          <p:cNvSpPr txBox="1"/>
          <p:nvPr userDrawn="1"/>
        </p:nvSpPr>
        <p:spPr>
          <a:xfrm>
            <a:off x="4181605" y="6948422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2780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1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84" r:id="rId2"/>
    <p:sldLayoutId id="2147483673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672" r:id="rId16"/>
    <p:sldLayoutId id="2147483664" r:id="rId17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FC5866-F3A3-4980-86F3-6FCAE84B2A71}"/>
              </a:ext>
            </a:extLst>
          </p:cNvPr>
          <p:cNvSpPr/>
          <p:nvPr userDrawn="1"/>
        </p:nvSpPr>
        <p:spPr>
          <a:xfrm>
            <a:off x="1455418" y="2607354"/>
            <a:ext cx="4069081" cy="595585"/>
          </a:xfrm>
          <a:prstGeom prst="roundRect">
            <a:avLst>
              <a:gd name="adj" fmla="val 50000"/>
            </a:avLst>
          </a:prstGeom>
          <a:solidFill>
            <a:srgbClr val="00B7D5"/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r>
              <a:rPr lang="ru-RU" altLang="ko-KR" sz="2000" dirty="0" smtClean="0">
                <a:solidFill>
                  <a:schemeClr val="bg1"/>
                </a:solidFill>
              </a:rPr>
              <a:t>Выполнили: Акбарова </a:t>
            </a:r>
            <a:r>
              <a:rPr lang="ru-RU" altLang="ko-KR" sz="2000" dirty="0" err="1" smtClean="0">
                <a:solidFill>
                  <a:schemeClr val="bg1"/>
                </a:solidFill>
              </a:rPr>
              <a:t>Самира</a:t>
            </a:r>
            <a:r>
              <a:rPr lang="ru-RU" altLang="ko-KR" sz="2000" dirty="0" smtClean="0">
                <a:solidFill>
                  <a:schemeClr val="bg1"/>
                </a:solidFill>
              </a:rPr>
              <a:t/>
            </a:r>
            <a:br>
              <a:rPr lang="ru-RU" altLang="ko-KR" sz="2000" dirty="0" smtClean="0">
                <a:solidFill>
                  <a:schemeClr val="bg1"/>
                </a:solidFill>
              </a:rPr>
            </a:br>
            <a:r>
              <a:rPr lang="ru-RU" altLang="ko-KR" sz="2000" dirty="0" smtClean="0">
                <a:solidFill>
                  <a:schemeClr val="bg1"/>
                </a:solidFill>
              </a:rPr>
              <a:t>                      </a:t>
            </a:r>
            <a:r>
              <a:rPr lang="ru-RU" altLang="ko-KR" sz="2000" dirty="0" err="1" smtClean="0">
                <a:solidFill>
                  <a:schemeClr val="bg1"/>
                </a:solidFill>
              </a:rPr>
              <a:t>Горбатюк</a:t>
            </a:r>
            <a:r>
              <a:rPr lang="ru-RU" altLang="ko-KR" sz="2000" dirty="0" smtClean="0">
                <a:solidFill>
                  <a:schemeClr val="bg1"/>
                </a:solidFill>
              </a:rPr>
              <a:t> Святогор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B623A-65F6-4027-AAD6-A070431FBFF4}"/>
              </a:ext>
            </a:extLst>
          </p:cNvPr>
          <p:cNvSpPr txBox="1"/>
          <p:nvPr userDrawn="1"/>
        </p:nvSpPr>
        <p:spPr>
          <a:xfrm>
            <a:off x="1732281" y="1188103"/>
            <a:ext cx="8788398" cy="898126"/>
          </a:xfrm>
          <a:prstGeom prst="rect">
            <a:avLst/>
          </a:prstGeom>
          <a:noFill/>
        </p:spPr>
        <p:txBody>
          <a:bodyPr vert="horz" wrap="square" lIns="18000" tIns="18000" rIns="18000" bIns="18000" rtlCol="0" anchor="ctr" anchorCtr="0">
            <a:spAutoFit/>
          </a:bodyPr>
          <a:lstStyle/>
          <a:p>
            <a:pPr algn="ctr"/>
            <a:r>
              <a:rPr lang="ru-RU" sz="2800" b="1" dirty="0" err="1">
                <a:latin typeface="+mj-lt"/>
              </a:rPr>
              <a:t>Десктопное</a:t>
            </a:r>
            <a:r>
              <a:rPr lang="ru-RU" sz="2800" b="1" dirty="0">
                <a:latin typeface="+mj-lt"/>
              </a:rPr>
              <a:t> </a:t>
            </a:r>
            <a:r>
              <a:rPr lang="ru-RU" sz="2800" b="1" dirty="0" smtClean="0">
                <a:latin typeface="+mj-lt"/>
              </a:rPr>
              <a:t>приложение</a:t>
            </a:r>
          </a:p>
          <a:p>
            <a:pPr algn="ctr"/>
            <a:r>
              <a:rPr lang="ru-RU" sz="2800" b="1" dirty="0" smtClean="0">
                <a:latin typeface="+mj-lt"/>
              </a:rPr>
              <a:t> </a:t>
            </a:r>
            <a:r>
              <a:rPr lang="ru-RU" sz="2800" b="1" dirty="0">
                <a:latin typeface="+mj-lt"/>
              </a:rPr>
              <a:t>«Чек-лист для путешествий»</a:t>
            </a:r>
          </a:p>
        </p:txBody>
      </p:sp>
    </p:spTree>
    <p:extLst>
      <p:ext uri="{BB962C8B-B14F-4D97-AF65-F5344CB8AC3E}">
        <p14:creationId xmlns:p14="http://schemas.microsoft.com/office/powerpoint/2010/main" val="2765140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Скругленный прямоугольник 32"/>
          <p:cNvSpPr/>
          <p:nvPr/>
        </p:nvSpPr>
        <p:spPr>
          <a:xfrm>
            <a:off x="538480" y="715965"/>
            <a:ext cx="11145520" cy="5725475"/>
          </a:xfrm>
          <a:prstGeom prst="roundRect">
            <a:avLst/>
          </a:prstGeom>
          <a:solidFill>
            <a:schemeClr val="bg1">
              <a:alpha val="50196"/>
            </a:scheme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89000" y="1268492"/>
            <a:ext cx="156660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cs typeface="Arial" panose="020B0604020202020204" pitchFamily="34" charset="0"/>
              </a:rPr>
              <a:t>Разработка настольного приложения для составления персонализированных чек-листов путешественника с поддержкой категорий, готовых шаблонов и сохранением списков в файл.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1060" y="876300"/>
            <a:ext cx="1452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smtClean="0">
                <a:latin typeface="+mj-lt"/>
              </a:rPr>
              <a:t>Цель</a:t>
            </a:r>
            <a:r>
              <a:rPr lang="en-US" sz="2400" b="1" dirty="0" smtClean="0">
                <a:latin typeface="+mj-lt"/>
              </a:rPr>
              <a:t>:</a:t>
            </a:r>
            <a:endParaRPr lang="ru-RU" sz="2400" b="1" dirty="0">
              <a:latin typeface="+mj-l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697480" y="876299"/>
            <a:ext cx="1452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smtClean="0">
                <a:latin typeface="+mj-lt"/>
              </a:rPr>
              <a:t>Задачи</a:t>
            </a:r>
            <a:r>
              <a:rPr lang="en-US" sz="2400" b="1" dirty="0" smtClean="0">
                <a:latin typeface="+mj-lt"/>
              </a:rPr>
              <a:t>:</a:t>
            </a:r>
            <a:endParaRPr lang="ru-RU" sz="2400" b="1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97480" y="1253995"/>
            <a:ext cx="84627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1.</a:t>
            </a:r>
            <a:r>
              <a:rPr lang="ru-RU" sz="1600" dirty="0" smtClean="0"/>
              <a:t> </a:t>
            </a:r>
            <a:r>
              <a:rPr lang="ru-RU" sz="1600" dirty="0"/>
              <a:t>Изучить предметную область организации путешествий и подготовки списков необходимых вещей.</a:t>
            </a:r>
          </a:p>
          <a:p>
            <a:r>
              <a:rPr lang="en-US" sz="1600" dirty="0" smtClean="0"/>
              <a:t>2.</a:t>
            </a:r>
            <a:r>
              <a:rPr lang="ru-RU" sz="1600" dirty="0" smtClean="0"/>
              <a:t>Разработать </a:t>
            </a:r>
            <a:r>
              <a:rPr lang="ru-RU" sz="1600" dirty="0" err="1"/>
              <a:t>desktop</a:t>
            </a:r>
            <a:r>
              <a:rPr lang="ru-RU" sz="1600" dirty="0"/>
              <a:t>-приложение для удобного создания и ведения чек-листов путешествий.</a:t>
            </a:r>
          </a:p>
          <a:p>
            <a:r>
              <a:rPr lang="en-US" sz="1600" dirty="0" smtClean="0"/>
              <a:t>3.</a:t>
            </a:r>
            <a:r>
              <a:rPr lang="ru-RU" sz="1600" dirty="0" smtClean="0"/>
              <a:t>Создать </a:t>
            </a:r>
            <a:r>
              <a:rPr lang="ru-RU" sz="1600" dirty="0"/>
              <a:t>удобный и интуитивно понятный графический интерфейс пользователя.</a:t>
            </a:r>
          </a:p>
          <a:p>
            <a:r>
              <a:rPr lang="en-US" sz="1600" dirty="0" smtClean="0"/>
              <a:t>4.</a:t>
            </a:r>
            <a:r>
              <a:rPr lang="ru-RU" sz="1600" dirty="0" smtClean="0"/>
              <a:t>Реализовать </a:t>
            </a:r>
            <a:r>
              <a:rPr lang="ru-RU" sz="1600" dirty="0"/>
              <a:t>систему готовых шаблонов для различных типов </a:t>
            </a:r>
            <a:r>
              <a:rPr lang="ru-RU" sz="1600" dirty="0" smtClean="0"/>
              <a:t>поездок:</a:t>
            </a:r>
          </a:p>
          <a:p>
            <a:r>
              <a:rPr lang="ru-RU" sz="1600" dirty="0" smtClean="0"/>
              <a:t>пляжный отдых</a:t>
            </a:r>
            <a:r>
              <a:rPr lang="en-US" sz="1600" dirty="0" smtClean="0"/>
              <a:t>,</a:t>
            </a:r>
            <a:r>
              <a:rPr lang="ru-RU" sz="1600" dirty="0" smtClean="0"/>
              <a:t>поход</a:t>
            </a:r>
            <a:r>
              <a:rPr lang="en-US" sz="1600" dirty="0" smtClean="0"/>
              <a:t>,</a:t>
            </a:r>
            <a:r>
              <a:rPr lang="ru-RU" sz="1600" dirty="0" smtClean="0"/>
              <a:t>командировка</a:t>
            </a:r>
            <a:r>
              <a:rPr lang="ru-RU" sz="1600" dirty="0"/>
              <a:t>.</a:t>
            </a:r>
          </a:p>
          <a:p>
            <a:r>
              <a:rPr lang="ru-RU" sz="1600" dirty="0"/>
              <a:t>5. Реализовать возможность управления категориями </a:t>
            </a:r>
            <a:r>
              <a:rPr lang="ru-RU" sz="1600" dirty="0" err="1" smtClean="0"/>
              <a:t>вещей:добавление</a:t>
            </a:r>
            <a:r>
              <a:rPr lang="ru-RU" sz="1600" dirty="0" smtClean="0"/>
              <a:t> категорий</a:t>
            </a:r>
            <a:r>
              <a:rPr lang="en-US" sz="1600" dirty="0" smtClean="0"/>
              <a:t>,</a:t>
            </a:r>
            <a:r>
              <a:rPr lang="ru-RU" sz="1600" dirty="0" smtClean="0"/>
              <a:t>удаление </a:t>
            </a:r>
            <a:r>
              <a:rPr lang="ru-RU" sz="1600" dirty="0"/>
              <a:t>категорий.</a:t>
            </a:r>
          </a:p>
          <a:p>
            <a:r>
              <a:rPr lang="ru-RU" sz="1600" dirty="0"/>
              <a:t>6. Реализовать возможность управления списком </a:t>
            </a:r>
            <a:r>
              <a:rPr lang="ru-RU" sz="1600" dirty="0" err="1" smtClean="0"/>
              <a:t>вещей:добавление</a:t>
            </a:r>
            <a:r>
              <a:rPr lang="ru-RU" sz="1600" dirty="0" smtClean="0"/>
              <a:t> вещей</a:t>
            </a:r>
            <a:r>
              <a:rPr lang="en-US" sz="1600" dirty="0" smtClean="0"/>
              <a:t>,</a:t>
            </a:r>
            <a:r>
              <a:rPr lang="ru-RU" sz="1600" dirty="0" smtClean="0"/>
              <a:t>удаление вещей</a:t>
            </a:r>
            <a:r>
              <a:rPr lang="en-US" sz="1600" dirty="0" smtClean="0"/>
              <a:t>,</a:t>
            </a:r>
            <a:r>
              <a:rPr lang="ru-RU" sz="1600" dirty="0" smtClean="0"/>
              <a:t>просмотр </a:t>
            </a:r>
            <a:r>
              <a:rPr lang="ru-RU" sz="1600" dirty="0"/>
              <a:t>списка вещей.</a:t>
            </a:r>
          </a:p>
          <a:p>
            <a:r>
              <a:rPr lang="ru-RU" sz="1600" dirty="0"/>
              <a:t>7. Реализовать механизм отметки собранных вещей с помощью </a:t>
            </a:r>
            <a:r>
              <a:rPr lang="ru-RU" sz="1600" dirty="0" err="1"/>
              <a:t>чекбоксов</a:t>
            </a:r>
            <a:r>
              <a:rPr lang="ru-RU" sz="1600" dirty="0"/>
              <a:t>.</a:t>
            </a:r>
          </a:p>
          <a:p>
            <a:r>
              <a:rPr lang="en-US" sz="1600" dirty="0"/>
              <a:t>8</a:t>
            </a:r>
            <a:r>
              <a:rPr lang="ru-RU" sz="1600" dirty="0" smtClean="0"/>
              <a:t>. </a:t>
            </a:r>
            <a:r>
              <a:rPr lang="ru-RU" sz="1600" dirty="0"/>
              <a:t>Обеспечить корректную работу приложения при большом количестве категорий и элементов за счёт использования прокрутки.</a:t>
            </a:r>
          </a:p>
          <a:p>
            <a:r>
              <a:rPr lang="en-US" sz="1600" dirty="0"/>
              <a:t>9</a:t>
            </a:r>
            <a:r>
              <a:rPr lang="ru-RU" sz="1600" dirty="0" smtClean="0"/>
              <a:t>. </a:t>
            </a:r>
            <a:r>
              <a:rPr lang="ru-RU" sz="1600" dirty="0"/>
              <a:t>Реализовать функции массового управления списком</a:t>
            </a:r>
            <a:r>
              <a:rPr lang="ru-RU" sz="1600" dirty="0" smtClean="0"/>
              <a:t>:</a:t>
            </a:r>
            <a:endParaRPr lang="ru-RU" sz="1600" dirty="0"/>
          </a:p>
          <a:p>
            <a:r>
              <a:rPr lang="ru-RU" sz="1600" dirty="0"/>
              <a:t>* отметить все вещи;</a:t>
            </a:r>
          </a:p>
          <a:p>
            <a:r>
              <a:rPr lang="ru-RU" sz="1600" dirty="0"/>
              <a:t>* снять все отметки;</a:t>
            </a:r>
          </a:p>
          <a:p>
            <a:r>
              <a:rPr lang="ru-RU" sz="1600" dirty="0"/>
              <a:t>* очистить список вещей</a:t>
            </a:r>
            <a:r>
              <a:rPr lang="ru-RU" sz="1600" dirty="0" smtClean="0"/>
              <a:t>.</a:t>
            </a:r>
            <a:endParaRPr lang="ru-RU" sz="16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 flipH="1">
            <a:off x="2455600" y="952500"/>
            <a:ext cx="27940" cy="4564708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069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619760" y="701040"/>
            <a:ext cx="11033760" cy="5557520"/>
          </a:xfrm>
          <a:prstGeom prst="roundRect">
            <a:avLst/>
          </a:prstGeom>
          <a:solidFill>
            <a:srgbClr val="FFFFFF">
              <a:alpha val="60000"/>
            </a:srgb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454C0-869F-456D-A853-327405F2BB8A}"/>
              </a:ext>
            </a:extLst>
          </p:cNvPr>
          <p:cNvSpPr txBox="1"/>
          <p:nvPr/>
        </p:nvSpPr>
        <p:spPr>
          <a:xfrm>
            <a:off x="3677136" y="1285312"/>
            <a:ext cx="4837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altLang="ko-KR" sz="3600" dirty="0" smtClean="0">
                <a:latin typeface="+mj-lt"/>
                <a:cs typeface="Arial" panose="020B0604020202020204" pitchFamily="34" charset="0"/>
              </a:rPr>
              <a:t>Актуальность</a:t>
            </a:r>
            <a:endParaRPr lang="ko-KR" altLang="en-US" sz="36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A788A2-9C16-4D17-B7A2-BDACEDE5D3C1}"/>
              </a:ext>
            </a:extLst>
          </p:cNvPr>
          <p:cNvSpPr txBox="1"/>
          <p:nvPr/>
        </p:nvSpPr>
        <p:spPr>
          <a:xfrm>
            <a:off x="1573790" y="2267026"/>
            <a:ext cx="889016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sz="2000" dirty="0"/>
              <a:t>В современном ритме жизни подготовка к поездке часто сопровождается стрессом и риском забыть важные вещи. Цифровые списки помогают структурировать процесс сборов, снижают вероятность ошибок и экономят время. Большинство существующих решений (заметки, текстовые файлы или универсальные планировщики) либо не адаптированы под специфику путешествий, либо перегружены функциями. Данное приложение предлагает простой и наглядный способ управления чек-листами с возможностью быстрого выбора шаблона (пляж, поход, командировка) и создания собственных категорий. Приложение не требует подключения к интернету и работает на любом компьютере с установленным </a:t>
            </a:r>
            <a:r>
              <a:rPr lang="ru-RU" sz="2000" dirty="0" err="1"/>
              <a:t>Python</a:t>
            </a:r>
            <a:r>
              <a:rPr lang="ru-RU" sz="2000" dirty="0"/>
              <a:t>.</a:t>
            </a:r>
          </a:p>
          <a:p>
            <a:pPr algn="ctr">
              <a:lnSpc>
                <a:spcPct val="100000"/>
              </a:lnSpc>
            </a:pP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2168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548640" y="817565"/>
            <a:ext cx="11145520" cy="5725475"/>
          </a:xfrm>
          <a:prstGeom prst="roundRect">
            <a:avLst/>
          </a:prstGeom>
          <a:solidFill>
            <a:schemeClr val="bg1">
              <a:alpha val="50196"/>
            </a:scheme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454C0-869F-456D-A853-327405F2BB8A}"/>
              </a:ext>
            </a:extLst>
          </p:cNvPr>
          <p:cNvSpPr txBox="1"/>
          <p:nvPr/>
        </p:nvSpPr>
        <p:spPr>
          <a:xfrm>
            <a:off x="3600005" y="1112592"/>
            <a:ext cx="4837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altLang="ko-KR" sz="3600" dirty="0" smtClean="0">
                <a:latin typeface="+mj-lt"/>
                <a:cs typeface="Arial" panose="020B0604020202020204" pitchFamily="34" charset="0"/>
              </a:rPr>
              <a:t>Предметная область</a:t>
            </a:r>
            <a:endParaRPr lang="ko-KR" altLang="en-US" sz="36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A788A2-9C16-4D17-B7A2-BDACEDE5D3C1}"/>
              </a:ext>
            </a:extLst>
          </p:cNvPr>
          <p:cNvSpPr txBox="1"/>
          <p:nvPr/>
        </p:nvSpPr>
        <p:spPr>
          <a:xfrm>
            <a:off x="642270" y="1686554"/>
            <a:ext cx="1061495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altLang="ko-KR" sz="2000" dirty="0">
                <a:solidFill>
                  <a:schemeClr val="tx1"/>
                </a:solidFill>
              </a:rPr>
              <a:t>Предметной областью проекта является организация подготовки к путешествиям с помощью электронных чек-листов.</a:t>
            </a:r>
          </a:p>
          <a:p>
            <a:pPr algn="ctr">
              <a:lnSpc>
                <a:spcPct val="100000"/>
              </a:lnSpc>
            </a:pPr>
            <a:endParaRPr lang="ru-RU" altLang="ko-KR" sz="2000" dirty="0">
              <a:solidFill>
                <a:schemeClr val="tx1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ru-RU" altLang="ko-KR" sz="2000" dirty="0">
                <a:solidFill>
                  <a:schemeClr val="tx1"/>
                </a:solidFill>
              </a:rPr>
              <a:t>Во время подготовки к поездке пользователи часто сталкиваются с проблемой забытых вещей, отсутствием структурированного списка необходимых предметов и неудобством хранения информации. Для решения данной проблемы разрабатывается </a:t>
            </a:r>
            <a:r>
              <a:rPr lang="ru-RU" altLang="ko-KR" sz="2000" dirty="0" err="1">
                <a:solidFill>
                  <a:schemeClr val="tx1"/>
                </a:solidFill>
              </a:rPr>
              <a:t>desktop</a:t>
            </a:r>
            <a:r>
              <a:rPr lang="ru-RU" altLang="ko-KR" sz="2000" dirty="0">
                <a:solidFill>
                  <a:schemeClr val="tx1"/>
                </a:solidFill>
              </a:rPr>
              <a:t>-приложение «</a:t>
            </a:r>
            <a:r>
              <a:rPr lang="ru-RU" altLang="ko-KR" sz="2000" dirty="0" err="1">
                <a:solidFill>
                  <a:schemeClr val="tx1"/>
                </a:solidFill>
              </a:rPr>
              <a:t>TravelPack</a:t>
            </a:r>
            <a:r>
              <a:rPr lang="ru-RU" altLang="ko-KR" sz="2000" dirty="0">
                <a:solidFill>
                  <a:schemeClr val="tx1"/>
                </a:solidFill>
              </a:rPr>
              <a:t> — Чек-лист для путешествий».</a:t>
            </a:r>
          </a:p>
          <a:p>
            <a:pPr algn="ctr">
              <a:lnSpc>
                <a:spcPct val="100000"/>
              </a:lnSpc>
            </a:pPr>
            <a:endParaRPr lang="ru-RU" altLang="ko-KR" sz="2000" dirty="0">
              <a:solidFill>
                <a:schemeClr val="tx1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ru-RU" altLang="ko-KR" sz="2000" dirty="0">
                <a:solidFill>
                  <a:schemeClr val="tx1"/>
                </a:solidFill>
              </a:rPr>
              <a:t>Приложение предназначено для создания, редактирования и хранения списков вещей, необходимых для различных типов поездок. Пользователь может использовать готовые шаблоны путешествий, создавать собственные категории и добавлять нужные предметы.</a:t>
            </a:r>
          </a:p>
          <a:p>
            <a:pPr algn="ctr">
              <a:lnSpc>
                <a:spcPct val="100000"/>
              </a:lnSpc>
            </a:pPr>
            <a:endParaRPr lang="ru-RU" altLang="ko-KR" sz="2000" dirty="0">
              <a:solidFill>
                <a:schemeClr val="tx1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ru-RU" altLang="ko-KR" sz="2000" dirty="0">
                <a:solidFill>
                  <a:schemeClr val="tx1"/>
                </a:solidFill>
              </a:rPr>
              <a:t>Система помогает упростить процесс сборов, повысить удобство планирования поездок и снизить вероятность забыть важные вещи.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E511937B-3D08-4DE1-B1A7-DDA1A774996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568" y="235469"/>
            <a:ext cx="697404" cy="582096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BAB01020-E592-4308-8821-F33925BC967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5470" y="5472968"/>
            <a:ext cx="741101" cy="737778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C47F7945-A610-40A1-9F6D-D51CF9FF432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84" y="54430"/>
            <a:ext cx="742762" cy="72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110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Скругленный прямоугольник 28"/>
          <p:cNvSpPr/>
          <p:nvPr/>
        </p:nvSpPr>
        <p:spPr>
          <a:xfrm>
            <a:off x="5203978" y="1036320"/>
            <a:ext cx="6258560" cy="4958080"/>
          </a:xfrm>
          <a:prstGeom prst="roundRect">
            <a:avLst/>
          </a:prstGeom>
          <a:solidFill>
            <a:schemeClr val="bg1">
              <a:alpha val="50196"/>
            </a:scheme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548640" y="817565"/>
            <a:ext cx="3769360" cy="2329763"/>
          </a:xfrm>
          <a:prstGeom prst="roundRect">
            <a:avLst/>
          </a:prstGeom>
          <a:solidFill>
            <a:schemeClr val="bg1">
              <a:alpha val="50196"/>
            </a:scheme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0A1551-4920-4165-A003-F790D1ABAD47}"/>
              </a:ext>
            </a:extLst>
          </p:cNvPr>
          <p:cNvSpPr txBox="1"/>
          <p:nvPr/>
        </p:nvSpPr>
        <p:spPr>
          <a:xfrm>
            <a:off x="1091537" y="1334199"/>
            <a:ext cx="34423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sz="3600" dirty="0" smtClean="0">
                <a:latin typeface="+mj-lt"/>
                <a:cs typeface="Arial" panose="020B0604020202020204" pitchFamily="34" charset="0"/>
              </a:rPr>
              <a:t>Основной Функционал</a:t>
            </a:r>
            <a:endParaRPr lang="ko-KR" altLang="en-US" sz="36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0D0CF9D-EB95-4B74-9B98-4E6A324E2627}"/>
              </a:ext>
            </a:extLst>
          </p:cNvPr>
          <p:cNvSpPr/>
          <p:nvPr/>
        </p:nvSpPr>
        <p:spPr>
          <a:xfrm>
            <a:off x="5941543" y="1949752"/>
            <a:ext cx="25342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dirty="0" smtClean="0">
                <a:latin typeface="+mj-lt"/>
              </a:rPr>
              <a:t>Добавление/удаление категорий</a:t>
            </a:r>
            <a:endParaRPr lang="en-US" altLang="ko-KR" dirty="0"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FBF65F8-6F42-411C-905C-C82CFD8CDADD}"/>
              </a:ext>
            </a:extLst>
          </p:cNvPr>
          <p:cNvSpPr/>
          <p:nvPr/>
        </p:nvSpPr>
        <p:spPr>
          <a:xfrm>
            <a:off x="5916144" y="1386065"/>
            <a:ext cx="152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+mj-lt"/>
              </a:rPr>
              <a:t>01.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F9A73EF-CC53-46ED-88F6-D116DC702A93}"/>
              </a:ext>
            </a:extLst>
          </p:cNvPr>
          <p:cNvSpPr/>
          <p:nvPr/>
        </p:nvSpPr>
        <p:spPr>
          <a:xfrm>
            <a:off x="8708749" y="1949752"/>
            <a:ext cx="2527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dirty="0" smtClean="0">
                <a:latin typeface="+mj-lt"/>
              </a:rPr>
              <a:t>Добавление/удаление вещей</a:t>
            </a:r>
            <a:endParaRPr lang="en-US" altLang="ko-KR" dirty="0">
              <a:latin typeface="+mj-lt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B9BB376-340D-48E4-B39F-7FD9E19E5053}"/>
              </a:ext>
            </a:extLst>
          </p:cNvPr>
          <p:cNvSpPr/>
          <p:nvPr/>
        </p:nvSpPr>
        <p:spPr>
          <a:xfrm>
            <a:off x="8683349" y="1386065"/>
            <a:ext cx="152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+mj-lt"/>
              </a:rPr>
              <a:t>02.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129CC44-1418-487C-BBCE-5E5E9D0A37F9}"/>
              </a:ext>
            </a:extLst>
          </p:cNvPr>
          <p:cNvSpPr/>
          <p:nvPr/>
        </p:nvSpPr>
        <p:spPr>
          <a:xfrm>
            <a:off x="5941544" y="3244334"/>
            <a:ext cx="2391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dirty="0" smtClean="0">
                <a:latin typeface="+mj-lt"/>
              </a:rPr>
              <a:t>Сохранение списка</a:t>
            </a:r>
            <a:endParaRPr lang="en-US" altLang="ko-KR" dirty="0">
              <a:latin typeface="+mj-lt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AF2CC8A-FE84-40E7-A329-ABA1B3BCFF7D}"/>
              </a:ext>
            </a:extLst>
          </p:cNvPr>
          <p:cNvSpPr/>
          <p:nvPr/>
        </p:nvSpPr>
        <p:spPr>
          <a:xfrm>
            <a:off x="5913779" y="2642041"/>
            <a:ext cx="152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+mj-lt"/>
              </a:rPr>
              <a:t>03.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6ABD6E5-7810-45FE-9822-88FB444A0604}"/>
              </a:ext>
            </a:extLst>
          </p:cNvPr>
          <p:cNvSpPr/>
          <p:nvPr/>
        </p:nvSpPr>
        <p:spPr>
          <a:xfrm>
            <a:off x="8683348" y="3244334"/>
            <a:ext cx="23917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dirty="0" smtClean="0">
                <a:latin typeface="+mj-lt"/>
              </a:rPr>
              <a:t>Редактирование пользовательского шаблона</a:t>
            </a:r>
            <a:endParaRPr lang="en-US" altLang="ko-KR" dirty="0">
              <a:latin typeface="+mj-lt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1A7D14F-B6DF-4E24-810A-2360B83105B2}"/>
              </a:ext>
            </a:extLst>
          </p:cNvPr>
          <p:cNvSpPr/>
          <p:nvPr/>
        </p:nvSpPr>
        <p:spPr>
          <a:xfrm>
            <a:off x="8683348" y="2624108"/>
            <a:ext cx="152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+mj-lt"/>
              </a:rPr>
              <a:t>04.</a:t>
            </a:r>
          </a:p>
        </p:txBody>
      </p:sp>
      <p:sp>
        <p:nvSpPr>
          <p:cNvPr id="26" name="직사각형 42">
            <a:extLst>
              <a:ext uri="{FF2B5EF4-FFF2-40B4-BE49-F238E27FC236}">
                <a16:creationId xmlns:a16="http://schemas.microsoft.com/office/drawing/2014/main" id="{31A7D14F-B6DF-4E24-810A-2360B83105B2}"/>
              </a:ext>
            </a:extLst>
          </p:cNvPr>
          <p:cNvSpPr/>
          <p:nvPr/>
        </p:nvSpPr>
        <p:spPr>
          <a:xfrm>
            <a:off x="5941544" y="4390020"/>
            <a:ext cx="152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 smtClean="0">
                <a:latin typeface="+mj-lt"/>
              </a:rPr>
              <a:t>0</a:t>
            </a:r>
            <a:r>
              <a:rPr lang="ru-RU" altLang="ko-KR" sz="2800" dirty="0" smtClean="0">
                <a:latin typeface="+mj-lt"/>
              </a:rPr>
              <a:t>5</a:t>
            </a:r>
            <a:r>
              <a:rPr lang="en-US" altLang="ko-KR" sz="2800" dirty="0" smtClean="0">
                <a:latin typeface="+mj-lt"/>
              </a:rPr>
              <a:t>.</a:t>
            </a:r>
            <a:endParaRPr lang="en-US" altLang="ko-KR" sz="2800" dirty="0">
              <a:latin typeface="+mj-lt"/>
            </a:endParaRPr>
          </a:p>
        </p:txBody>
      </p:sp>
      <p:sp>
        <p:nvSpPr>
          <p:cNvPr id="27" name="직사각형 38">
            <a:extLst>
              <a:ext uri="{FF2B5EF4-FFF2-40B4-BE49-F238E27FC236}">
                <a16:creationId xmlns:a16="http://schemas.microsoft.com/office/drawing/2014/main" id="{5129CC44-1418-487C-BBCE-5E5E9D0A37F9}"/>
              </a:ext>
            </a:extLst>
          </p:cNvPr>
          <p:cNvSpPr/>
          <p:nvPr/>
        </p:nvSpPr>
        <p:spPr>
          <a:xfrm>
            <a:off x="5913778" y="4946060"/>
            <a:ext cx="25620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dirty="0" smtClean="0">
                <a:latin typeface="+mj-lt"/>
              </a:rPr>
              <a:t>Добавление/удаление отметки для каждой вещи</a:t>
            </a:r>
            <a:endParaRPr lang="en-US" altLang="ko-K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58832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1600" y="1559981"/>
            <a:ext cx="120904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dirty="0" smtClean="0"/>
              <a:t>Язык программирования</a:t>
            </a:r>
            <a:r>
              <a:rPr lang="en-US" sz="3200" dirty="0" smtClean="0"/>
              <a:t>:Python</a:t>
            </a:r>
            <a:endParaRPr lang="ru-RU" sz="32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dirty="0"/>
              <a:t>Библиотека </a:t>
            </a:r>
            <a:r>
              <a:rPr lang="en-US" sz="3200" dirty="0" err="1"/>
              <a:t>Tkinter</a:t>
            </a:r>
            <a:r>
              <a:rPr lang="en-US" sz="3200" dirty="0"/>
              <a:t> </a:t>
            </a:r>
            <a:r>
              <a:rPr lang="ru-RU" sz="3200" dirty="0"/>
              <a:t>для создания </a:t>
            </a:r>
            <a:endParaRPr lang="ru-RU" sz="3200" dirty="0" smtClean="0"/>
          </a:p>
          <a:p>
            <a:r>
              <a:rPr lang="ru-RU" sz="3200" dirty="0" smtClean="0"/>
              <a:t>графических </a:t>
            </a:r>
            <a:r>
              <a:rPr lang="ru-RU" sz="3200" dirty="0"/>
              <a:t>интерфейсов</a:t>
            </a:r>
            <a:r>
              <a:rPr lang="ru-RU" sz="3200" dirty="0" smtClean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JSON – </a:t>
            </a:r>
            <a:r>
              <a:rPr lang="ru-RU" sz="3200" dirty="0"/>
              <a:t>текстовый формат обмена данными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sz="32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sz="3200" dirty="0"/>
          </a:p>
        </p:txBody>
      </p:sp>
      <p:sp>
        <p:nvSpPr>
          <p:cNvPr id="6" name="Google Shape;98;p11"/>
          <p:cNvSpPr txBox="1"/>
          <p:nvPr/>
        </p:nvSpPr>
        <p:spPr>
          <a:xfrm>
            <a:off x="5324703" y="303446"/>
            <a:ext cx="1962557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400" b="0" i="0" u="none" strike="noStrike" cap="none" dirty="0" smtClean="0">
                <a:latin typeface="+mj-lt"/>
                <a:ea typeface="DM Serif Display"/>
                <a:cs typeface="DM Serif Display"/>
                <a:sym typeface="DM Serif Display"/>
              </a:rPr>
              <a:t>Стек </a:t>
            </a:r>
            <a:endParaRPr sz="4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0418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Скругленный прямоугольник 60"/>
          <p:cNvSpPr/>
          <p:nvPr/>
        </p:nvSpPr>
        <p:spPr>
          <a:xfrm>
            <a:off x="538480" y="750559"/>
            <a:ext cx="11145520" cy="6036321"/>
          </a:xfrm>
          <a:prstGeom prst="roundRect">
            <a:avLst/>
          </a:prstGeom>
          <a:solidFill>
            <a:schemeClr val="bg1">
              <a:alpha val="50196"/>
            </a:scheme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DD10006-4A01-4FF2-8C91-AFF6BF0F256F}"/>
              </a:ext>
            </a:extLst>
          </p:cNvPr>
          <p:cNvSpPr/>
          <p:nvPr/>
        </p:nvSpPr>
        <p:spPr>
          <a:xfrm>
            <a:off x="2567270" y="227339"/>
            <a:ext cx="666129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ko-KR" sz="2800" dirty="0" smtClean="0">
                <a:latin typeface="+mj-lt"/>
                <a:cs typeface="Arial" panose="020B0604020202020204" pitchFamily="34" charset="0"/>
              </a:rPr>
              <a:t>Сценарий использования приложения</a:t>
            </a:r>
            <a:endParaRPr lang="ko-KR" altLang="en-US" sz="2800" dirty="0"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7" name="Группа 6"/>
          <p:cNvGrpSpPr/>
          <p:nvPr/>
        </p:nvGrpSpPr>
        <p:grpSpPr>
          <a:xfrm>
            <a:off x="1115082" y="863600"/>
            <a:ext cx="1973848" cy="2824480"/>
            <a:chOff x="4290328" y="1341120"/>
            <a:chExt cx="2336800" cy="3413760"/>
          </a:xfrm>
        </p:grpSpPr>
        <p:sp>
          <p:nvSpPr>
            <p:cNvPr id="3" name="Скругленный прямоугольник 2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/>
                <a:t>Запуск приложения</a:t>
              </a:r>
            </a:p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" name="Овал 3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836160" y="1580941"/>
              <a:ext cx="75184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 smtClean="0">
                  <a:latin typeface="+mj-lt"/>
                </a:rPr>
                <a:t>1</a:t>
              </a:r>
              <a:endParaRPr lang="ru-RU" sz="4800" b="1" dirty="0">
                <a:latin typeface="+mj-lt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450080" y="2794000"/>
              <a:ext cx="1971040" cy="483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ru-RU" sz="2000" dirty="0"/>
            </a:p>
          </p:txBody>
        </p:sp>
      </p:grpSp>
      <p:grpSp>
        <p:nvGrpSpPr>
          <p:cNvPr id="21" name="Группа 20"/>
          <p:cNvGrpSpPr/>
          <p:nvPr/>
        </p:nvGrpSpPr>
        <p:grpSpPr>
          <a:xfrm>
            <a:off x="9372323" y="863600"/>
            <a:ext cx="1973848" cy="2824480"/>
            <a:chOff x="4290329" y="1341120"/>
            <a:chExt cx="2336800" cy="3413760"/>
          </a:xfrm>
        </p:grpSpPr>
        <p:sp>
          <p:nvSpPr>
            <p:cNvPr id="22" name="Скругленный прямоугольник 21"/>
            <p:cNvSpPr/>
            <p:nvPr/>
          </p:nvSpPr>
          <p:spPr>
            <a:xfrm>
              <a:off x="4290329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Добавление/</a:t>
              </a:r>
            </a:p>
            <a:p>
              <a:pPr algn="ctr"/>
              <a:r>
                <a:rPr lang="ru-RU" sz="2000" dirty="0" smtClean="0"/>
                <a:t>удаление вещи</a:t>
              </a:r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3" name="Овал 22"/>
            <p:cNvSpPr/>
            <p:nvPr/>
          </p:nvSpPr>
          <p:spPr>
            <a:xfrm>
              <a:off x="4450079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836159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 smtClean="0">
                  <a:latin typeface="+mj-lt"/>
                </a:rPr>
                <a:t>4</a:t>
              </a:r>
              <a:endParaRPr lang="ru-RU" sz="4800" b="1" dirty="0">
                <a:latin typeface="+mj-lt"/>
              </a:endParaRP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628286" y="834096"/>
            <a:ext cx="1973848" cy="2824480"/>
            <a:chOff x="4290328" y="1341120"/>
            <a:chExt cx="2336800" cy="3413760"/>
          </a:xfrm>
        </p:grpSpPr>
        <p:sp>
          <p:nvSpPr>
            <p:cNvPr id="27" name="Скругленный прямоугольник 26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Добавление/</a:t>
              </a:r>
            </a:p>
            <a:p>
              <a:pPr algn="ctr"/>
              <a:r>
                <a:rPr lang="ru-RU" sz="2000" dirty="0" smtClean="0"/>
                <a:t>удаление категории </a:t>
              </a:r>
              <a:endParaRPr lang="ru-RU" sz="2000" dirty="0"/>
            </a:p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8" name="Овал 27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836160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 smtClean="0">
                  <a:latin typeface="+mj-lt"/>
                </a:rPr>
                <a:t>3</a:t>
              </a:r>
              <a:endParaRPr lang="ru-RU" sz="4800" b="1" dirty="0">
                <a:latin typeface="+mj-lt"/>
              </a:endParaRP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1115082" y="3805766"/>
            <a:ext cx="1973848" cy="2824480"/>
            <a:chOff x="4290328" y="1341120"/>
            <a:chExt cx="2336800" cy="3413760"/>
          </a:xfrm>
        </p:grpSpPr>
        <p:sp>
          <p:nvSpPr>
            <p:cNvPr id="32" name="Скругленный прямоугольник 31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Сохранение шаблона</a:t>
              </a:r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Овал 32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836160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>
                  <a:latin typeface="+mj-lt"/>
                </a:rPr>
                <a:t>5</a:t>
              </a:r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3881076" y="3805766"/>
            <a:ext cx="1973848" cy="2824480"/>
            <a:chOff x="4290328" y="1341120"/>
            <a:chExt cx="2336800" cy="3413760"/>
          </a:xfrm>
        </p:grpSpPr>
        <p:sp>
          <p:nvSpPr>
            <p:cNvPr id="37" name="Скругленный прямоугольник 36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Отметка нужных элементов в списке</a:t>
              </a:r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8" name="Овал 37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836160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>
                  <a:latin typeface="+mj-lt"/>
                </a:rPr>
                <a:t>6</a:t>
              </a:r>
              <a:endParaRPr lang="ru-RU" sz="4800" b="1" dirty="0">
                <a:latin typeface="+mj-lt"/>
              </a:endParaRP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3884363" y="863600"/>
            <a:ext cx="1973848" cy="2824480"/>
            <a:chOff x="4290328" y="1341120"/>
            <a:chExt cx="2336800" cy="3413760"/>
          </a:xfrm>
        </p:grpSpPr>
        <p:sp>
          <p:nvSpPr>
            <p:cNvPr id="42" name="Скругленный прямоугольник 41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Выбор</a:t>
              </a:r>
            </a:p>
            <a:p>
              <a:pPr algn="ctr"/>
              <a:r>
                <a:rPr lang="ru-RU" sz="2000" dirty="0" smtClean="0"/>
                <a:t> шаблона</a:t>
              </a:r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3" name="Овал 42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836160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 smtClean="0">
                  <a:latin typeface="+mj-lt"/>
                </a:rPr>
                <a:t>2</a:t>
              </a:r>
              <a:endParaRPr lang="ru-RU" sz="4800" b="1" dirty="0">
                <a:latin typeface="+mj-lt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450080" y="2794000"/>
              <a:ext cx="1971040" cy="483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ru-RU" sz="2000" dirty="0"/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628286" y="3805766"/>
            <a:ext cx="1973848" cy="2824480"/>
            <a:chOff x="4290328" y="1341120"/>
            <a:chExt cx="2336800" cy="3413760"/>
          </a:xfrm>
        </p:grpSpPr>
        <p:sp>
          <p:nvSpPr>
            <p:cNvPr id="47" name="Скругленный прямоугольник 46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Сохранение  списка</a:t>
              </a:r>
              <a:endParaRPr lang="ru-RU" sz="2000" dirty="0"/>
            </a:p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8" name="Овал 47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836160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>
                  <a:latin typeface="+mj-lt"/>
                </a:rPr>
                <a:t>7</a:t>
              </a:r>
              <a:endParaRPr lang="ru-RU" sz="4800" b="1" dirty="0">
                <a:latin typeface="+mj-lt"/>
              </a:endParaRP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9372323" y="3805766"/>
            <a:ext cx="1973848" cy="2824480"/>
            <a:chOff x="4290328" y="1341120"/>
            <a:chExt cx="2336800" cy="3413760"/>
          </a:xfrm>
        </p:grpSpPr>
        <p:sp>
          <p:nvSpPr>
            <p:cNvPr id="52" name="Скругленный прямоугольник 51"/>
            <p:cNvSpPr/>
            <p:nvPr/>
          </p:nvSpPr>
          <p:spPr>
            <a:xfrm>
              <a:off x="4290328" y="2116330"/>
              <a:ext cx="2336800" cy="2638550"/>
            </a:xfrm>
            <a:prstGeom prst="roundRect">
              <a:avLst/>
            </a:prstGeom>
            <a:solidFill>
              <a:srgbClr val="00B7D5"/>
            </a:solidFill>
            <a:ln w="317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r>
                <a:rPr lang="ru-RU" sz="2000" dirty="0" smtClean="0"/>
                <a:t>Удаление      выделения    со всех          пунктов</a:t>
              </a:r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3" name="Овал 52"/>
            <p:cNvSpPr/>
            <p:nvPr/>
          </p:nvSpPr>
          <p:spPr>
            <a:xfrm>
              <a:off x="4450080" y="1341120"/>
              <a:ext cx="1280160" cy="1310640"/>
            </a:xfrm>
            <a:prstGeom prst="ellipse">
              <a:avLst/>
            </a:prstGeom>
            <a:solidFill>
              <a:schemeClr val="bg1"/>
            </a:solidFill>
            <a:ln w="285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 anchorCtr="0"/>
            <a:lstStyle/>
            <a:p>
              <a:pPr algn="ctr"/>
              <a:endParaRPr lang="ru-RU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836160" y="1580941"/>
              <a:ext cx="751840" cy="10043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b="1" dirty="0">
                  <a:latin typeface="+mj-lt"/>
                </a:rPr>
                <a:t>8</a:t>
              </a:r>
              <a:endParaRPr lang="ru-RU" sz="4800" b="1" dirty="0">
                <a:latin typeface="+mj-lt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450080" y="2794000"/>
              <a:ext cx="1971040" cy="483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ru-RU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65949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37" y="1116624"/>
            <a:ext cx="5531188" cy="4595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Запуск приложения</a:t>
            </a:r>
            <a:endParaRPr lang="ru-RU" sz="28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38772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Выбор шаблона</a:t>
            </a:r>
            <a:endParaRPr lang="ru-RU" sz="2800" b="1" dirty="0">
              <a:latin typeface="+mj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69" y="976244"/>
            <a:ext cx="5531188" cy="481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680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Добавление категории</a:t>
            </a:r>
            <a:endParaRPr lang="ru-RU" sz="2800" b="1" dirty="0">
              <a:latin typeface="+mj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367" y="1360645"/>
            <a:ext cx="2162477" cy="1390844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1567" y="3905730"/>
            <a:ext cx="2876951" cy="156231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567" y="1501019"/>
            <a:ext cx="2772162" cy="1505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11202" y="1131687"/>
            <a:ext cx="10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До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811202" y="3449147"/>
            <a:ext cx="257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024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Удаление категории</a:t>
            </a:r>
            <a:endParaRPr lang="ru-RU" sz="2800" b="1" dirty="0">
              <a:latin typeface="+mj-l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258" y="1669725"/>
            <a:ext cx="3038899" cy="1514686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344" y="1583988"/>
            <a:ext cx="3057952" cy="16004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42720" y="948365"/>
            <a:ext cx="20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До</a:t>
            </a:r>
            <a:endParaRPr 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7782560" y="943672"/>
            <a:ext cx="20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2916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Добавление вещи</a:t>
            </a:r>
            <a:endParaRPr lang="ru-RU" sz="2800" b="1" dirty="0">
              <a:latin typeface="+mj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07" y="827250"/>
            <a:ext cx="2800741" cy="1552792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405" y="827250"/>
            <a:ext cx="2133898" cy="133368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507" y="2644156"/>
            <a:ext cx="5664844" cy="340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32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Удаление вещи</a:t>
            </a:r>
            <a:endParaRPr lang="ru-RU" sz="2800" b="1" dirty="0">
              <a:latin typeface="+mj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857" y="898697"/>
            <a:ext cx="2476846" cy="140989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545" y="898697"/>
            <a:ext cx="2572109" cy="160995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8857" y="2534602"/>
            <a:ext cx="5004443" cy="325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007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Сохранение шаблона</a:t>
            </a:r>
            <a:endParaRPr lang="ru-RU" sz="2800" b="1" dirty="0">
              <a:latin typeface="+mj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8631" y="1116624"/>
            <a:ext cx="3429479" cy="1800476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" y="1116624"/>
            <a:ext cx="5493893" cy="4867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92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Сохранение списка</a:t>
            </a:r>
            <a:endParaRPr lang="ru-RU" sz="2800" b="1" dirty="0">
              <a:latin typeface="+mj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779" y="1274916"/>
            <a:ext cx="3915321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507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Снятие и выделение отметок</a:t>
            </a:r>
            <a:endParaRPr lang="ru-RU" sz="2800" b="1" dirty="0">
              <a:latin typeface="+mj-l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166" y="935483"/>
            <a:ext cx="1822727" cy="2772936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81" y="935483"/>
            <a:ext cx="1866878" cy="272351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5799" y="935483"/>
            <a:ext cx="1618733" cy="265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3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12177" y="149469"/>
            <a:ext cx="9319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>
                <a:latin typeface="+mj-lt"/>
              </a:rPr>
              <a:t>Обработка ошибок</a:t>
            </a:r>
            <a:endParaRPr lang="ru-RU" sz="28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00900" y="1116624"/>
            <a:ext cx="3727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процессе работы были обработаны ошибки для каждой кнопки.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27" y="913031"/>
            <a:ext cx="3134162" cy="1762371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404" y="4315856"/>
            <a:ext cx="2581635" cy="174331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896" y="4241624"/>
            <a:ext cx="2229161" cy="181952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964" y="2787542"/>
            <a:ext cx="3063488" cy="140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54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508000" y="827725"/>
            <a:ext cx="11145520" cy="5725475"/>
          </a:xfrm>
          <a:prstGeom prst="roundRect">
            <a:avLst/>
          </a:prstGeom>
          <a:solidFill>
            <a:schemeClr val="bg1">
              <a:alpha val="50196"/>
            </a:schemeClr>
          </a:solidFill>
          <a:ln w="3175" cap="flat">
            <a:noFill/>
            <a:prstDash val="solid"/>
            <a:miter/>
          </a:ln>
        </p:spPr>
        <p:txBody>
          <a:bodyPr rtlCol="0" anchor="ctr" anchorCtr="0"/>
          <a:lstStyle/>
          <a:p>
            <a:pPr algn="ctr"/>
            <a:endParaRPr lang="ru-RU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454C0-869F-456D-A853-327405F2BB8A}"/>
              </a:ext>
            </a:extLst>
          </p:cNvPr>
          <p:cNvSpPr txBox="1"/>
          <p:nvPr/>
        </p:nvSpPr>
        <p:spPr>
          <a:xfrm>
            <a:off x="3677136" y="1285312"/>
            <a:ext cx="4837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altLang="ko-KR" sz="3600" dirty="0" smtClean="0">
                <a:latin typeface="+mj-lt"/>
                <a:cs typeface="Arial" panose="020B0604020202020204" pitchFamily="34" charset="0"/>
              </a:rPr>
              <a:t>Заключение</a:t>
            </a:r>
            <a:endParaRPr lang="ko-KR" altLang="en-US" sz="36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A788A2-9C16-4D17-B7A2-BDACEDE5D3C1}"/>
              </a:ext>
            </a:extLst>
          </p:cNvPr>
          <p:cNvSpPr txBox="1"/>
          <p:nvPr/>
        </p:nvSpPr>
        <p:spPr>
          <a:xfrm>
            <a:off x="1573790" y="2013026"/>
            <a:ext cx="889016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sz="2000" dirty="0"/>
              <a:t>В ходе выполнения проекта </a:t>
            </a:r>
            <a:r>
              <a:rPr lang="ru-RU" sz="2000" dirty="0" smtClean="0"/>
              <a:t>было разработано </a:t>
            </a:r>
            <a:r>
              <a:rPr lang="ru-RU" sz="2000" dirty="0" err="1"/>
              <a:t>desktop</a:t>
            </a:r>
            <a:r>
              <a:rPr lang="ru-RU" sz="2000" dirty="0"/>
              <a:t>-приложение «</a:t>
            </a:r>
            <a:r>
              <a:rPr lang="ru-RU" sz="2000" dirty="0" err="1"/>
              <a:t>TravelPack</a:t>
            </a:r>
            <a:r>
              <a:rPr lang="ru-RU" sz="2000" dirty="0"/>
              <a:t> — Чек-лист для путешествий», предназначенное для организации и хранения списков вещей перед </a:t>
            </a:r>
            <a:r>
              <a:rPr lang="ru-RU" sz="2000" dirty="0" smtClean="0"/>
              <a:t>поездками</a:t>
            </a:r>
            <a:r>
              <a:rPr lang="ru-RU" sz="2000" dirty="0"/>
              <a:t>.</a:t>
            </a:r>
          </a:p>
          <a:p>
            <a:pPr algn="ctr">
              <a:lnSpc>
                <a:spcPct val="100000"/>
              </a:lnSpc>
            </a:pPr>
            <a:r>
              <a:rPr lang="ru-RU" sz="2000" dirty="0"/>
              <a:t>В приложении реализованы основные функции для удобного управления чек-листами: использование готовых шаблонов, добавление и удаление категорий и вещей, отметка собранных предметов, сохранение пользовательских данных и экспорт списка в файл</a:t>
            </a:r>
            <a:r>
              <a:rPr lang="ru-RU" sz="2000" dirty="0" smtClean="0"/>
              <a:t>.</a:t>
            </a:r>
            <a:endParaRPr lang="ru-RU" sz="2000" dirty="0"/>
          </a:p>
          <a:p>
            <a:pPr algn="ctr">
              <a:lnSpc>
                <a:spcPct val="100000"/>
              </a:lnSpc>
            </a:pPr>
            <a:r>
              <a:rPr lang="ru-RU" sz="2000" dirty="0"/>
              <a:t>Разработанный интерфейс обеспечивает удобную работу пользователя с приложением, а использование формата JSON позволяет хранить данные в структурированном виде</a:t>
            </a:r>
            <a:r>
              <a:rPr lang="ru-RU" sz="2000" dirty="0" smtClean="0"/>
              <a:t>.</a:t>
            </a:r>
            <a:endParaRPr lang="ru-RU" sz="2000" dirty="0"/>
          </a:p>
          <a:p>
            <a:pPr algn="ctr">
              <a:lnSpc>
                <a:spcPct val="100000"/>
              </a:lnSpc>
            </a:pPr>
            <a:r>
              <a:rPr lang="ru-RU" sz="2000" dirty="0"/>
              <a:t>Созданное приложение упрощает подготовку к путешествиям, помогает систематизировать необходимые вещи и уменьшает вероятность забыть важные предметы перед поездкой.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396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B186C1-DA15-44A8-900C-4BB714BED707}"/>
              </a:ext>
            </a:extLst>
          </p:cNvPr>
          <p:cNvSpPr txBox="1"/>
          <p:nvPr userDrawn="1"/>
        </p:nvSpPr>
        <p:spPr>
          <a:xfrm>
            <a:off x="6675173" y="2195742"/>
            <a:ext cx="4547451" cy="193899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pPr algn="ctr"/>
            <a:r>
              <a:rPr lang="ru-RU" altLang="ko-KR" sz="6000" b="0" dirty="0" smtClean="0">
                <a:solidFill>
                  <a:schemeClr val="tx1"/>
                </a:solidFill>
              </a:rPr>
              <a:t>Спасибо за внимание</a:t>
            </a:r>
            <a:r>
              <a:rPr lang="en-US" altLang="ko-KR" sz="6000" b="0" dirty="0" smtClean="0">
                <a:solidFill>
                  <a:schemeClr val="tx1"/>
                </a:solidFill>
              </a:rPr>
              <a:t> </a:t>
            </a:r>
            <a:r>
              <a:rPr lang="en-US" altLang="ko-KR" sz="6000" b="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907620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PTMON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urgette - Montserrat Light">
      <a:majorFont>
        <a:latin typeface="Courgette"/>
        <a:ea typeface="Arial Unicode MS"/>
        <a:cs typeface=""/>
      </a:majorFont>
      <a:minorFont>
        <a:latin typeface="Montserrat Light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B7D5"/>
        </a:solidFill>
        <a:ln w="3175" cap="flat">
          <a:noFill/>
          <a:prstDash val="solid"/>
          <a:miter/>
        </a:ln>
      </a:spPr>
      <a:bodyPr rtlCol="0" anchor="ctr" anchorCtr="0"/>
      <a:lstStyle>
        <a:defPPr algn="ctr">
          <a:defRPr sz="2000" dirty="0">
            <a:solidFill>
              <a:schemeClr val="bg1"/>
            </a:solidFill>
            <a:latin typeface="+mj-lt"/>
          </a:defRPr>
        </a:defPPr>
      </a:lstStyle>
    </a:spDef>
    <a:lnDef>
      <a:spPr>
        <a:solidFill>
          <a:schemeClr val="bg1">
            <a:alpha val="50000"/>
          </a:schemeClr>
        </a:solidFill>
        <a:ln w="3175" cap="flat">
          <a:solidFill>
            <a:schemeClr val="bg1"/>
          </a:solidFill>
          <a:prstDash val="solid"/>
          <a:miter/>
        </a:ln>
      </a:spPr>
      <a:bodyPr/>
      <a:lstStyle/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3639</TotalTime>
  <Words>582</Words>
  <Application>Microsoft Office PowerPoint</Application>
  <PresentationFormat>Широкоэкранный</PresentationFormat>
  <Paragraphs>87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Arial Unicode MS</vt:lpstr>
      <vt:lpstr>Courgette</vt:lpstr>
      <vt:lpstr>DM Serif Display</vt:lpstr>
      <vt:lpstr>Arial</vt:lpstr>
      <vt:lpstr>Malgun Gothic</vt:lpstr>
      <vt:lpstr>Montserrat Light</vt:lpstr>
      <vt:lpstr>PPTMON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5</dc:creator>
  <cp:lastModifiedBy>Home</cp:lastModifiedBy>
  <cp:revision>337</cp:revision>
  <dcterms:created xsi:type="dcterms:W3CDTF">2019-04-06T05:20:47Z</dcterms:created>
  <dcterms:modified xsi:type="dcterms:W3CDTF">2026-05-28T07:58:32Z</dcterms:modified>
</cp:coreProperties>
</file>